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09311-B7E4-4F73-A2CC-9B8A147033F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2057C-FF8C-4501-BC68-88C41BF65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2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2057C-FF8C-4501-BC68-88C41BF654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7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7315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097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0080"/>
            <a:ext cx="1645920" cy="3200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Refugees in Switzerland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D62828"/>
                </a:solidFill>
              </a:rPr>
              <a:t>don't know their rights.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45720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5146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55555"/>
                </a:solidFill>
              </a:rPr>
              <a:t>Switzerland's asylum system is one of the most complex in Europe — 5 permit types, canton-specific rules, 30-day appeal deadlines, and official information only in German, French, or Italian.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49039"/>
            <a:ext cx="141732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749039"/>
            <a:ext cx="36576" cy="96012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62828"/>
                </a:solidFill>
              </a:rPr>
              <a:t>100K+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87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555555"/>
                </a:solidFill>
              </a:rPr>
              <a:t>Refugees &amp; asylum
seekers in Switzerland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749039"/>
            <a:ext cx="141732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3749039"/>
            <a:ext cx="36576" cy="96012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3803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62828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87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Permit types, each with
different rights &amp;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749039"/>
            <a:ext cx="141732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29000" y="3749039"/>
            <a:ext cx="36576" cy="96012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3803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62828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187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Free multilingual tools
explaining it clearly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9377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555555"/>
                </a:solidFill>
              </a:rPr>
              <a:t>"Missed deadlines. Lost rights. Fear and isolation.
Not from bad law — from inaccessible information."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1876" y="1600200"/>
            <a:ext cx="1005840" cy="3657600"/>
          </a:xfrm>
          <a:prstGeom prst="rect">
            <a:avLst/>
          </a:prstGeom>
          <a:solidFill>
            <a:srgbClr val="F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25996" y="2926080"/>
            <a:ext cx="3657600" cy="1005840"/>
          </a:xfrm>
          <a:prstGeom prst="rect">
            <a:avLst/>
          </a:prstGeom>
          <a:solidFill>
            <a:srgbClr val="F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25996" y="30632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62828"/>
                </a:solidFill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3516" y="30632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62828"/>
                </a:solidFill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4756" y="16002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62828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7315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097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2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0080"/>
            <a:ext cx="1645920" cy="3200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Refugee Assistant Switzerland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 free AI chatbot available 24/7 — answering questions about
asylum, work, education, healthcare, and integration
in the user's own language.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71800"/>
            <a:ext cx="45720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3282696"/>
            <a:ext cx="91440" cy="914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154680"/>
            <a:ext cx="4251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Multilingual — 15+ languages (Arabic, Tigrinya, Dari, </a:t>
            </a:r>
            <a:r>
              <a:rPr lang="en-US" sz="1300" b="0" i="0" dirty="0">
                <a:solidFill>
                  <a:srgbClr val="FFFFFF"/>
                </a:solidFill>
              </a:rPr>
              <a:t>Turkish,</a:t>
            </a:r>
            <a:r>
              <a:rPr sz="1300" b="0" i="0" dirty="0">
                <a:solidFill>
                  <a:srgbClr val="FFFFFF"/>
                </a:solidFill>
              </a:rPr>
              <a:t>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758184"/>
            <a:ext cx="91440" cy="914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3630168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Covers everything — work rights, school, health, permits, appeals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33672"/>
            <a:ext cx="91440" cy="914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4105656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Grounded in 27 verified Swiss official sources (SEM, OSAR, ch.ch)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709160"/>
            <a:ext cx="91440" cy="914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4581144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Always on — no appointment, no waiting, no account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84648"/>
            <a:ext cx="91440" cy="914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5056632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Proactively warns about critical deadlines (e.g. 30-day appeal)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660136"/>
            <a:ext cx="91440" cy="914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5532120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Free for every refugee in Switzerland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11480"/>
            <a:ext cx="3200400" cy="5852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20256" y="612648"/>
            <a:ext cx="2944368" cy="553212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20256" y="1005840"/>
            <a:ext cx="2944368" cy="64008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93408" y="10515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Refugee Assistant Switzerland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13258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Online · Replies in seconds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783080"/>
            <a:ext cx="2057400" cy="475488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8352" y="183794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What is Permit F?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93408" y="2350008"/>
            <a:ext cx="2057400" cy="65836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240487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Permit F = provisionally admitted.
You may work with cantonal authorisation.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99816"/>
            <a:ext cx="2057400" cy="475488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315468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هل يمكنني العمل؟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666744"/>
            <a:ext cx="2057400" cy="47548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37216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نعم، يمكنك العمل بعد الحصول على إذن.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4233672"/>
            <a:ext cx="2057400" cy="475488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88352" y="4288536"/>
            <a:ext cx="19202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solidFill>
                  <a:srgbClr val="FFFFFF"/>
                </a:solidFill>
              </a:rPr>
              <a:t>Çocuğumu</a:t>
            </a:r>
            <a:r>
              <a:rPr lang="en-US" sz="800" dirty="0">
                <a:solidFill>
                  <a:srgbClr val="FFFFFF"/>
                </a:solidFill>
              </a:rPr>
              <a:t> </a:t>
            </a:r>
            <a:r>
              <a:rPr lang="en-US" sz="800" dirty="0" err="1">
                <a:solidFill>
                  <a:srgbClr val="FFFFFF"/>
                </a:solidFill>
              </a:rPr>
              <a:t>okula</a:t>
            </a:r>
            <a:r>
              <a:rPr lang="en-US" sz="800" dirty="0">
                <a:solidFill>
                  <a:srgbClr val="FFFFFF"/>
                </a:solidFill>
              </a:rPr>
              <a:t> </a:t>
            </a:r>
            <a:r>
              <a:rPr lang="en-US" sz="800" dirty="0" err="1">
                <a:solidFill>
                  <a:srgbClr val="FFFFFF"/>
                </a:solidFill>
              </a:rPr>
              <a:t>kaydettirebilir</a:t>
            </a:r>
            <a:r>
              <a:rPr lang="en-US" sz="800" dirty="0">
                <a:solidFill>
                  <a:srgbClr val="FFFFFF"/>
                </a:solidFill>
              </a:rPr>
              <a:t> </a:t>
            </a:r>
            <a:r>
              <a:rPr lang="en-US" sz="800" dirty="0" err="1">
                <a:solidFill>
                  <a:srgbClr val="FFFFFF"/>
                </a:solidFill>
              </a:rPr>
              <a:t>miyim</a:t>
            </a:r>
            <a:r>
              <a:rPr lang="en-US" sz="800" dirty="0">
                <a:solidFill>
                  <a:srgbClr val="FFFFFF"/>
                </a:solidFill>
              </a:rPr>
              <a:t>?</a:t>
            </a:r>
            <a:endParaRPr sz="800" b="0" i="0" dirty="0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693408" y="4800600"/>
            <a:ext cx="2057400" cy="65836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0" y="4855464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AAAAAA"/>
                </a:solidFill>
              </a:rPr>
              <a:t>Evet, </a:t>
            </a:r>
            <a:r>
              <a:rPr lang="en-US" sz="800" dirty="0" err="1">
                <a:solidFill>
                  <a:srgbClr val="AAAAAA"/>
                </a:solidFill>
              </a:rPr>
              <a:t>İsviçre'de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tüm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çocukların</a:t>
            </a:r>
            <a:r>
              <a:rPr lang="en-US" sz="800" dirty="0">
                <a:solidFill>
                  <a:srgbClr val="AAAAAA"/>
                </a:solidFill>
              </a:rPr>
              <a:t>, </a:t>
            </a:r>
            <a:r>
              <a:rPr lang="en-US" sz="800" dirty="0" err="1">
                <a:solidFill>
                  <a:srgbClr val="AAAAAA"/>
                </a:solidFill>
              </a:rPr>
              <a:t>izin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belgesi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olup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olmamasına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bakılmaksızın</a:t>
            </a:r>
            <a:r>
              <a:rPr lang="en-US" sz="800" dirty="0">
                <a:solidFill>
                  <a:srgbClr val="AAAAAA"/>
                </a:solidFill>
              </a:rPr>
              <a:t>, </a:t>
            </a:r>
            <a:r>
              <a:rPr lang="en-US" sz="800" dirty="0" err="1">
                <a:solidFill>
                  <a:srgbClr val="AAAAAA"/>
                </a:solidFill>
              </a:rPr>
              <a:t>eğitim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hakkı</a:t>
            </a:r>
            <a:r>
              <a:rPr lang="en-US" sz="800" dirty="0">
                <a:solidFill>
                  <a:srgbClr val="AAAAAA"/>
                </a:solidFill>
              </a:rPr>
              <a:t> </a:t>
            </a:r>
            <a:r>
              <a:rPr lang="en-US" sz="800" dirty="0" err="1">
                <a:solidFill>
                  <a:srgbClr val="AAAAAA"/>
                </a:solidFill>
              </a:rPr>
              <a:t>vardır</a:t>
            </a:r>
            <a:r>
              <a:rPr lang="en-US" sz="800" dirty="0">
                <a:solidFill>
                  <a:srgbClr val="AAAAAA"/>
                </a:solidFill>
              </a:rPr>
              <a:t>.</a:t>
            </a:r>
            <a:endParaRPr sz="800" b="0" i="0" dirty="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097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3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47472"/>
            <a:ext cx="1645920" cy="3200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931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Architecture &amp;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" y="1463040"/>
            <a:ext cx="2651760" cy="21945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" y="1993392"/>
            <a:ext cx="2103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" y="21214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" y="2697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Python web interface
Zero JS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3532" y="233172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2988" y="1463040"/>
            <a:ext cx="2651760" cy="219456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2988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7308" y="1993392"/>
            <a:ext cx="2103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2988" y="21214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4428" y="2697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Query processing
Session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4748" y="233172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4204" y="1463040"/>
            <a:ext cx="2651760" cy="2194560"/>
          </a:xfrm>
          <a:prstGeom prst="rect">
            <a:avLst/>
          </a:prstGeom>
          <a:solidFill>
            <a:srgbClr val="F0A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04204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KNOWLEDGE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8524" y="1993392"/>
            <a:ext cx="2103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4204" y="21214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SQLite +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644" y="2697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27 Swiss official sources
Keyword scoring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5964" y="233172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5420" y="1463040"/>
            <a:ext cx="2651760" cy="219456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5420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49740" y="1993392"/>
            <a:ext cx="2103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75420" y="21214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LLaMA 3.3-70b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6860" y="2697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Via Groq API
Fast, multilingual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" y="3977640"/>
            <a:ext cx="265176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1772" y="3977640"/>
            <a:ext cx="26517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932" y="4105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Language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" y="44531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Automatic — user writes in any language,
bot responds in the same language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2988" y="3977640"/>
            <a:ext cx="265176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32988" y="3977640"/>
            <a:ext cx="26517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0148" y="4105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30-Day Alert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0148" y="44531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Bot proactively warns about critical
Swiss appeal deadlines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4204" y="3977640"/>
            <a:ext cx="265176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04204" y="3977640"/>
            <a:ext cx="26517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41364" y="4105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Conversation 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1364" y="44531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Full chat history stored in SQLite,
context preserved across turns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5420" y="3977640"/>
            <a:ext cx="265176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75420" y="3977640"/>
            <a:ext cx="26517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12580" y="4105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Source Citation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2580" y="44531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Answers grounded in SEM, OSAR, ch.ch
— not guesses, real Swiss 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097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4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47472"/>
            <a:ext cx="1645920" cy="3200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931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RAG Pipeline — End to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" y="1554480"/>
            <a:ext cx="192024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" y="1755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 User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0412" y="2194560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" y="2377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Any question
in any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2052" y="2148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8084" y="1554480"/>
            <a:ext cx="1920240" cy="1645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8084" y="1755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2. Keyword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6684" y="2194560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8084" y="2377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Match against
27 Swiss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8324" y="2148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4356" y="1554480"/>
            <a:ext cx="1920240" cy="1645920"/>
          </a:xfrm>
          <a:prstGeom prst="rect">
            <a:avLst/>
          </a:prstGeom>
          <a:solidFill>
            <a:srgbClr val="F0A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4356" y="1755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3. Source Inject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62956" y="2194560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34356" y="2377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Top 3 sources
added to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4596" y="2148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0628" y="1554480"/>
            <a:ext cx="1920240" cy="164592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0628" y="1755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4. LLM Generate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9228" y="2194560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0628" y="2377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LLaMA 3.3-70b
via Groq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868" y="2148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86900" y="1554480"/>
            <a:ext cx="1920240" cy="164592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86900" y="1755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5. Answer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15500" y="2194560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86900" y="2377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Shown in user's
language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3566160"/>
            <a:ext cx="9445752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54480" y="3685032"/>
            <a:ext cx="9079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D62828"/>
                </a:solidFill>
              </a:rPr>
              <a:t>Example: User asks "Can I work with Permit F?" in Arabic  →  Bot finds SEM source  →  Responds in Arabic with correct answer  →  Saves to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72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</a:rPr>
              <a:t>Key Architecture Decisions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3566160" cy="1280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5120640"/>
            <a:ext cx="35661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5248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Why keyword search, not vectors?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596128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</a:rPr>
              <a:t>Swiss asylum domain is structured &amp; predictable. Keyword scoring is faster,
cheaper, and accurate enough for this domain — no GPU needed.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5120640"/>
            <a:ext cx="3566160" cy="1280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51960" y="5120640"/>
            <a:ext cx="35661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0" y="5248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A2E"/>
                </a:solidFill>
              </a:rPr>
              <a:t>Why </a:t>
            </a:r>
            <a:r>
              <a:rPr sz="1100" b="1" i="0" dirty="0" err="1">
                <a:solidFill>
                  <a:srgbClr val="1A1A2E"/>
                </a:solidFill>
              </a:rPr>
              <a:t>Groq</a:t>
            </a:r>
            <a:r>
              <a:rPr sz="1100" b="1" i="0" dirty="0">
                <a:solidFill>
                  <a:srgbClr val="1A1A2E"/>
                </a:solidFill>
              </a:rPr>
              <a:t> + </a:t>
            </a:r>
            <a:r>
              <a:rPr sz="1100" b="1" i="0" dirty="0" err="1">
                <a:solidFill>
                  <a:srgbClr val="1A1A2E"/>
                </a:solidFill>
              </a:rPr>
              <a:t>LLaMA</a:t>
            </a:r>
            <a:r>
              <a:rPr sz="1100" b="1" i="0" dirty="0">
                <a:solidFill>
                  <a:srgbClr val="1A1A2E"/>
                </a:solidFill>
              </a:rPr>
              <a:t> 3.3-70b?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596128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</a:rPr>
              <a:t>Fast inference, multilingual capability, OpenAI-compatible API.
Free tier covers MVP usage — easy to swap for another model later.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5120640"/>
            <a:ext cx="3566160" cy="1280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46720" y="5120640"/>
            <a:ext cx="3566160" cy="5486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80" y="5248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Why SQLite?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5596128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Zero-config, serverless, perfect for single-user Streamlit deployment.
Stores both the knowledge base and conversation history in one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574</Words>
  <Application>Microsoft Office PowerPoint</Application>
  <PresentationFormat>Custom</PresentationFormat>
  <Paragraphs>85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KUNIGO</cp:lastModifiedBy>
  <cp:revision>2</cp:revision>
  <dcterms:created xsi:type="dcterms:W3CDTF">2013-01-27T09:14:16Z</dcterms:created>
  <dcterms:modified xsi:type="dcterms:W3CDTF">2026-04-27T13:00:19Z</dcterms:modified>
  <cp:category/>
</cp:coreProperties>
</file>